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par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80960" cy="49011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86016" y="0"/>
            <a:ext cx="14959584" cy="41148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274320"/>
            <a:ext cx="13716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400" b="1">
                <a:solidFill>
                  <a:srgbClr val="FFFFFF"/>
                </a:solidFill>
                <a:latin typeface="Calibri"/>
              </a:rPr>
              <a:t>Med Veda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600200"/>
            <a:ext cx="137160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0">
                <a:solidFill>
                  <a:srgbClr val="FFB300"/>
                </a:solidFill>
                <a:latin typeface="Calibri"/>
              </a:rPr>
              <a:t>Pervasive Clinical AI on Snapdragon + Governed Hybrid Compute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331720"/>
            <a:ext cx="1371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0">
                <a:solidFill>
                  <a:srgbClr val="BBBBBB"/>
                </a:solidFill>
                <a:latin typeface="Calibri"/>
              </a:rPr>
              <a:t>On-device MedGemma multimodal   |   Edge companion hub   |   Governed cloud tiers   |   Privacy-first by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108960"/>
            <a:ext cx="2651760" cy="347472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136392"/>
            <a:ext cx="2651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On-Device Inference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07040" y="3108960"/>
            <a:ext cx="2651760" cy="3474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3136392"/>
            <a:ext cx="2651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Edge Companion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41680" y="3108960"/>
            <a:ext cx="2651760" cy="347472"/>
          </a:xfrm>
          <a:prstGeom prst="round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0" y="3136392"/>
            <a:ext cx="2651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FHIR Interop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910559" y="3108960"/>
            <a:ext cx="2651760" cy="347472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910559" y="3136392"/>
            <a:ext cx="2651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Offline-First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611880"/>
            <a:ext cx="1554480" cy="29260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3630168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SHIPPED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3611880"/>
            <a:ext cx="1554480" cy="29260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3630168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PROTOTYPE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47120" y="3611880"/>
            <a:ext cx="1554480" cy="292608"/>
          </a:xfrm>
          <a:prstGeom prst="round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0" y="3630168"/>
            <a:ext cx="1554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663440"/>
            <a:ext cx="21945600" cy="64008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340096"/>
            <a:ext cx="7132320" cy="5084064"/>
          </a:xfrm>
          <a:prstGeom prst="rect">
            <a:avLst/>
          </a:prstGeom>
          <a:solidFill>
            <a:srgbClr val="F0F4F8"/>
          </a:solidFill>
          <a:ln w="254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937760"/>
            <a:ext cx="7132320" cy="438912"/>
          </a:xfrm>
          <a:prstGeom prst="rect">
            <a:avLst/>
          </a:prstGeom>
          <a:solidFill>
            <a:srgbClr val="005A9C"/>
          </a:solidFill>
          <a:ln w="254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74336"/>
            <a:ext cx="6766559" cy="36575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513832"/>
            <a:ext cx="6675120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000000"/>
                </a:solidFill>
                <a:latin typeface="Calibri"/>
              </a:rPr>
              <a:t>Mobile clinical workflows operate under intermittent connectivity, strict latency budgets, and thermal constraints on sustained inference. Protected health information must remain under privacy-preserving processing, yet multimodal decisions require tight coupling between longitudinal records and high-resolution imaging.
Med Veda is an Android clinician assistant centered on on-device MedGemma multimodal inference. Privacy-sensitive reasoning, chart-conditioned dialogue, and multilingual generation execute locally on Snapdragon hardware via a native GGUF runtime with heterogeneous acceleration. This edge-first design preserves low-latency interaction in offline wards and keeps narrative PHI under local control.
Compute-intensive vision is selectively orchestrated to institutional imaging services returning structured analytics, not open-ended cloud generation. FHIR export enables hospital VPC clusters for deeper screening and cohort analytics while the handset remains the bedside copilot.
The contribution is a production-oriented hybrid edge-cloud pattern: Snapdragon-edge multimodal reasoning as the default trust boundary, governed delegation for heavy vision, and standards-based extensibility for institutional compute.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1100816"/>
            <a:ext cx="7132320" cy="3255264"/>
          </a:xfrm>
          <a:prstGeom prst="rect">
            <a:avLst/>
          </a:prstGeom>
          <a:solidFill>
            <a:srgbClr val="F0F4F8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10698480"/>
            <a:ext cx="7132320" cy="438912"/>
          </a:xfrm>
          <a:prstGeom prst="rect">
            <a:avLst/>
          </a:prstGeom>
          <a:solidFill>
            <a:srgbClr val="C62828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10735055"/>
            <a:ext cx="6766559" cy="36575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1274552"/>
            <a:ext cx="6675120" cy="292608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–  Clinicians need longitudinal chart + imaging at bedside with intermittent or no connectivity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–  Cloud-bound AI introduces unacceptable latency and mandates PHI egress to third-party servers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–  India's DPDP Act and global data protection laws impose strict constraints on clinical data movement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–  A single device cannot handle all workloads at full speed — large imaging hits thermal and compute limits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–  Existing solutions force a false choice: all-on-phone (slow) or all-in-cloud (privacy-violating, offline-incompatible)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5032736"/>
            <a:ext cx="7132320" cy="4901184"/>
          </a:xfrm>
          <a:prstGeom prst="rect">
            <a:avLst/>
          </a:prstGeom>
          <a:solidFill>
            <a:srgbClr val="F0F4F8"/>
          </a:solidFill>
          <a:ln w="254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14630400"/>
            <a:ext cx="7132320" cy="438912"/>
          </a:xfrm>
          <a:prstGeom prst="rect">
            <a:avLst/>
          </a:prstGeom>
          <a:solidFill>
            <a:srgbClr val="005A9C"/>
          </a:solidFill>
          <a:ln w="254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14666976"/>
            <a:ext cx="6766559" cy="36575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Methods &amp; Technical Approach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5206472"/>
            <a:ext cx="6675120" cy="457200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b="1">
                <a:solidFill>
                  <a:srgbClr val="005A9C"/>
                </a:solidFill>
                <a:latin typeface="Calibri"/>
              </a:rPr>
              <a:t>MedGemma Multimodal GGUF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Deployed via quantized GGUF through custom llama.cpp JNI wrapper (aichatlib) with lazy mmproj vision encoder loading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b="1">
                <a:solidFill>
                  <a:srgbClr val="005A9C"/>
                </a:solidFill>
                <a:latin typeface="Calibri"/>
              </a:rPr>
              <a:t>Heterogeneous Acceleration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CPU (KleidiAI arm64), Adreno GPU, and Hexagon NPU runtime paths; user-selectable energy mode with dynamic model switching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b="1">
                <a:solidFill>
                  <a:srgbClr val="005A9C"/>
                </a:solidFill>
                <a:latin typeface="Calibri"/>
              </a:rPr>
              <a:t>Chart-Grounded Inference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Room DB stores longitudinal records; system prompts inject full chart context with dated entries for temporally-aware reasoning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b="1">
                <a:solidFill>
                  <a:srgbClr val="005A9C"/>
                </a:solidFill>
                <a:latin typeface="Calibri"/>
              </a:rPr>
              <a:t>Hybrid Vision Pipeline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Study pixels sent to near-edge GPU; only structured JSON findings return to device for local text synthesis — chart never leaves phone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b="1">
                <a:solidFill>
                  <a:srgbClr val="005A9C"/>
                </a:solidFill>
                <a:latin typeface="Calibri"/>
              </a:rPr>
              <a:t>FHIR Interoperability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On-device LLM-assisted FHIR bundle export enables hospital VPC ingestion for batch analytics with larger models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0610576"/>
            <a:ext cx="7132320" cy="5084064"/>
          </a:xfrm>
          <a:prstGeom prst="rect">
            <a:avLst/>
          </a:prstGeom>
          <a:solidFill>
            <a:srgbClr val="F0F4F8"/>
          </a:solidFill>
          <a:ln w="25400">
            <a:solidFill>
              <a:srgbClr val="0A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20208240"/>
            <a:ext cx="7132320" cy="438912"/>
          </a:xfrm>
          <a:prstGeom prst="rect">
            <a:avLst/>
          </a:prstGeom>
          <a:solidFill>
            <a:srgbClr val="0A1A2F"/>
          </a:solidFill>
          <a:ln w="25400">
            <a:solidFill>
              <a:srgbClr val="0A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20244816"/>
            <a:ext cx="6766559" cy="36575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Three-Tier Pervasive AI Architecture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20784312"/>
            <a:ext cx="6675120" cy="1371600"/>
          </a:xfrm>
          <a:prstGeom prst="rect">
            <a:avLst/>
          </a:prstGeom>
          <a:solidFill>
            <a:srgbClr val="E8F5E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870448" y="20857464"/>
            <a:ext cx="1417320" cy="2743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70448" y="20875752"/>
            <a:ext cx="14173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SHIPPED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" y="20857464"/>
            <a:ext cx="4892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B5E20"/>
                </a:solidFill>
                <a:latin typeface="Calibri"/>
              </a:rPr>
              <a:t>Tier 1 — On-Device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" y="21195792"/>
            <a:ext cx="645566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Snapdragon phone: MedGemma GGUF + mmproj vision; chart-grounded chat; Room DB; PIN auth; full offline operation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22293072"/>
            <a:ext cx="6675120" cy="1371600"/>
          </a:xfrm>
          <a:prstGeom prst="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870448" y="22366223"/>
            <a:ext cx="1417320" cy="2743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70448" y="22384512"/>
            <a:ext cx="14173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PROTOTYPE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" y="22366223"/>
            <a:ext cx="4892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565C0"/>
                </a:solidFill>
                <a:latin typeface="Calibri"/>
              </a:rPr>
              <a:t>Tier 2 — Near Edge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" y="22704552"/>
            <a:ext cx="645566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Hospital / clinic LAN GPU: heavy imaging returns structured JSON findings; edge companion hub with web dashboard and patient sync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23801831"/>
            <a:ext cx="6675120" cy="1371600"/>
          </a:xfrm>
          <a:prstGeom prst="rect">
            <a:avLst/>
          </a:prstGeom>
          <a:solidFill>
            <a:srgbClr val="F3E5F5"/>
          </a:solidFill>
          <a:ln w="25400">
            <a:solidFill>
              <a:srgbClr val="452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870448" y="23874983"/>
            <a:ext cx="1417320" cy="274320"/>
          </a:xfrm>
          <a:prstGeom prst="round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70448" y="23893272"/>
            <a:ext cx="14173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8" y="23874983"/>
            <a:ext cx="4892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4527A0"/>
                </a:solidFill>
                <a:latin typeface="Calibri"/>
              </a:rPr>
              <a:t>Tier 3 — Hospital VPC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8" y="24213311"/>
            <a:ext cx="6455664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Overnight batch with larger models, rare-disease screens, cohort analytics via FHIR ingest; on-device prognosis worker is shipped edge version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6371296"/>
            <a:ext cx="7132320" cy="1975104"/>
          </a:xfrm>
          <a:prstGeom prst="rect">
            <a:avLst/>
          </a:prstGeom>
          <a:solidFill>
            <a:srgbClr val="E8F5E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25968960"/>
            <a:ext cx="7132320" cy="438912"/>
          </a:xfrm>
          <a:prstGeom prst="rect">
            <a:avLst/>
          </a:prstGeom>
          <a:solidFill>
            <a:srgbClr val="1B5E20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26005536"/>
            <a:ext cx="6766559" cy="36575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Privacy &amp; Trust Boundary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26545032"/>
            <a:ext cx="66751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B5E20"/>
                </a:solidFill>
                <a:latin typeface="Calibri"/>
              </a:rPr>
              <a:t>Clinical narrative and chart Q&amp;A default on-device. Edge companion and cloud tiers are user-governed — chart text does not go to third-party LLMs unless the clinician explicitly opts in.
Public internet is used only for model weight delivery and OAuth sign-in — never for clinical inference on patient data.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46720" y="5340096"/>
            <a:ext cx="13441680" cy="4901184"/>
          </a:xfrm>
          <a:prstGeom prst="rect">
            <a:avLst/>
          </a:prstGeom>
          <a:solidFill>
            <a:srgbClr val="F0F4F8"/>
          </a:solidFill>
          <a:ln w="254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46720" y="4937760"/>
            <a:ext cx="13441680" cy="438912"/>
          </a:xfrm>
          <a:prstGeom prst="rect">
            <a:avLst/>
          </a:prstGeom>
          <a:solidFill>
            <a:srgbClr val="005A9C"/>
          </a:solidFill>
          <a:ln w="254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0" y="4974336"/>
            <a:ext cx="13075919" cy="36575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System Architecture — Pervasive AI Continuum</a:t>
            </a:r>
          </a:p>
        </p:txBody>
      </p:sp>
      <p:pic>
        <p:nvPicPr>
          <p:cNvPr id="60" name="Picture 59" descr="architecture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5513832"/>
            <a:ext cx="12984480" cy="452628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8046720" y="10917936"/>
            <a:ext cx="13441680" cy="6455664"/>
          </a:xfrm>
          <a:prstGeom prst="rect">
            <a:avLst/>
          </a:prstGeom>
          <a:solidFill>
            <a:srgbClr val="E3F2FD"/>
          </a:solidFill>
          <a:ln w="25400">
            <a:solidFill>
              <a:srgbClr val="0A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046720" y="10515600"/>
            <a:ext cx="13441680" cy="438912"/>
          </a:xfrm>
          <a:prstGeom prst="rect">
            <a:avLst/>
          </a:prstGeom>
          <a:solidFill>
            <a:srgbClr val="0A1A2F"/>
          </a:solidFill>
          <a:ln w="25400">
            <a:solidFill>
              <a:srgbClr val="0A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0" y="10552176"/>
            <a:ext cx="13075919" cy="36575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Key Highlights &amp; Innovations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11091672"/>
            <a:ext cx="1289304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005A9C"/>
                </a:solidFill>
                <a:latin typeface="Calibri"/>
              </a:rPr>
              <a:t>–  </a:t>
            </a:r>
            <a:r>
              <a:rPr sz="1600" b="1">
                <a:solidFill>
                  <a:srgbClr val="0A1A2F"/>
                </a:solidFill>
                <a:latin typeface="Calibri"/>
              </a:rPr>
              <a:t>On-Device Multimodal AI</a:t>
            </a:r>
            <a:r>
              <a:rPr sz="1500" b="0">
                <a:solidFill>
                  <a:srgbClr val="000000"/>
                </a:solidFill>
                <a:latin typeface="Calibri"/>
              </a:rPr>
              <a:t>  MedGemma runs text + vision entirely on Snapdragon via custom llama.cpp JNI wrapper. Zero cloud inference for clinical data.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11868912"/>
            <a:ext cx="1289304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005A9C"/>
                </a:solidFill>
                <a:latin typeface="Calibri"/>
              </a:rPr>
              <a:t>–  </a:t>
            </a:r>
            <a:r>
              <a:rPr sz="1600" b="1">
                <a:solidFill>
                  <a:srgbClr val="0A1A2F"/>
                </a:solidFill>
                <a:latin typeface="Calibri"/>
              </a:rPr>
              <a:t>Quantization Discipline</a:t>
            </a:r>
            <a:r>
              <a:rPr sz="1500" b="0">
                <a:solidFill>
                  <a:srgbClr val="000000"/>
                </a:solidFill>
                <a:latin typeface="Calibri"/>
              </a:rPr>
              <a:t>  In-repo benchmarks across 5 medical datasets (500 samples each) — Q8_0 is lossless at 47% size reduction; reasoning accuracy preserved across all quantization levels.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12646152"/>
            <a:ext cx="1289304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005A9C"/>
                </a:solidFill>
                <a:latin typeface="Calibri"/>
              </a:rPr>
              <a:t>–  </a:t>
            </a:r>
            <a:r>
              <a:rPr sz="1600" b="1">
                <a:solidFill>
                  <a:srgbClr val="0A1A2F"/>
                </a:solidFill>
                <a:latin typeface="Calibri"/>
              </a:rPr>
              <a:t>Hybrid Vision Pipeline</a:t>
            </a:r>
            <a:r>
              <a:rPr sz="1500" b="0">
                <a:solidFill>
                  <a:srgbClr val="000000"/>
                </a:solidFill>
                <a:latin typeface="Calibri"/>
              </a:rPr>
              <a:t>  Heavy imaging (X-ray, histopathology) offloaded to near-edge GPU; only structured JSON returns to phone. Chart text never leaves device in hybrid mode.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13423392"/>
            <a:ext cx="1289304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005A9C"/>
                </a:solidFill>
                <a:latin typeface="Calibri"/>
              </a:rPr>
              <a:t>–  </a:t>
            </a:r>
            <a:r>
              <a:rPr sz="1600" b="1">
                <a:solidFill>
                  <a:srgbClr val="0A1A2F"/>
                </a:solidFill>
                <a:latin typeface="Calibri"/>
              </a:rPr>
              <a:t>Edge Companion Hub</a:t>
            </a:r>
            <a:r>
              <a:rPr sz="1500" b="0">
                <a:solidFill>
                  <a:srgbClr val="000000"/>
                </a:solidFill>
                <a:latin typeface="Calibri"/>
              </a:rPr>
              <a:t>  FastAPI-based laptop server with patient sync, LLM routing (Ollama / Gemini), chart processing, and web dashboard for clinical oversight.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14200632"/>
            <a:ext cx="1289304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005A9C"/>
                </a:solidFill>
                <a:latin typeface="Calibri"/>
              </a:rPr>
              <a:t>–  </a:t>
            </a:r>
            <a:r>
              <a:rPr sz="1600" b="1">
                <a:solidFill>
                  <a:srgbClr val="0A1A2F"/>
                </a:solidFill>
                <a:latin typeface="Calibri"/>
              </a:rPr>
              <a:t>Smart Vernacular Injection</a:t>
            </a:r>
            <a:r>
              <a:rPr sz="1500" b="0">
                <a:solidFill>
                  <a:srgbClr val="000000"/>
                </a:solidFill>
                <a:latin typeface="Calibri"/>
              </a:rPr>
              <a:t>  Zero-overhead regex interceptor translates complex medical jargon to Telugu / Hindi in the output stream without degrading core reasoning benchmarks.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14977872"/>
            <a:ext cx="1289304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005A9C"/>
                </a:solidFill>
                <a:latin typeface="Calibri"/>
              </a:rPr>
              <a:t>–  </a:t>
            </a:r>
            <a:r>
              <a:rPr sz="1600" b="1">
                <a:solidFill>
                  <a:srgbClr val="0A1A2F"/>
                </a:solidFill>
                <a:latin typeface="Calibri"/>
              </a:rPr>
              <a:t>Longitudinal Intelligence</a:t>
            </a:r>
            <a:r>
              <a:rPr sz="1500" b="0">
                <a:solidFill>
                  <a:srgbClr val="000000"/>
                </a:solidFill>
                <a:latin typeface="Calibri"/>
              </a:rPr>
              <a:t>  Room DB stores chronological patient profiles; AI bridges years of historical records with current symptoms via chart-grounded prompts.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15755112"/>
            <a:ext cx="1289304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005A9C"/>
                </a:solidFill>
                <a:latin typeface="Calibri"/>
              </a:rPr>
              <a:t>–  </a:t>
            </a:r>
            <a:r>
              <a:rPr sz="1600" b="1">
                <a:solidFill>
                  <a:srgbClr val="0A1A2F"/>
                </a:solidFill>
                <a:latin typeface="Calibri"/>
              </a:rPr>
              <a:t>FHIR Export &amp; Interoperability</a:t>
            </a:r>
            <a:r>
              <a:rPr sz="1500" b="0">
                <a:solidFill>
                  <a:srgbClr val="000000"/>
                </a:solidFill>
                <a:latin typeface="Calibri"/>
              </a:rPr>
              <a:t>  On-device LLM-assisted FHIR bundle generation enables data flow to hospital systems without cloud intermediary. Encrypted local storage with PIN / biometric auth.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16532352"/>
            <a:ext cx="1289304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005A9C"/>
                </a:solidFill>
                <a:latin typeface="Calibri"/>
              </a:rPr>
              <a:t>–  </a:t>
            </a:r>
            <a:r>
              <a:rPr sz="1600" b="1">
                <a:solidFill>
                  <a:srgbClr val="0A1A2F"/>
                </a:solidFill>
                <a:latin typeface="Calibri"/>
              </a:rPr>
              <a:t>Scheduled Prognosis Worker</a:t>
            </a:r>
            <a:r>
              <a:rPr sz="1500" b="0">
                <a:solidFill>
                  <a:srgbClr val="000000"/>
                </a:solidFill>
                <a:latin typeface="Calibri"/>
              </a:rPr>
              <a:t>  WorkManager-based overnight batch generates AI prognoses for all patients when device is charging — shipped edge version of the hospital batch tier.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46720" y="18050256"/>
            <a:ext cx="13441680" cy="9930384"/>
          </a:xfrm>
          <a:prstGeom prst="rect">
            <a:avLst/>
          </a:prstGeom>
          <a:solidFill>
            <a:srgbClr val="FDF2E9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046720" y="17647920"/>
            <a:ext cx="13441680" cy="438912"/>
          </a:xfrm>
          <a:prstGeom prst="rect">
            <a:avLst/>
          </a:prstGeom>
          <a:solidFill>
            <a:srgbClr val="E6510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600" y="17684496"/>
            <a:ext cx="13075919" cy="36575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Benchmarks &amp; Performance</a:t>
            </a:r>
          </a:p>
        </p:txBody>
      </p:sp>
      <p:pic>
        <p:nvPicPr>
          <p:cNvPr id="75" name="Picture 74" descr="kpi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8223992"/>
            <a:ext cx="12984480" cy="1371600"/>
          </a:xfrm>
          <a:prstGeom prst="rect">
            <a:avLst/>
          </a:prstGeom>
        </p:spPr>
      </p:pic>
      <p:pic>
        <p:nvPicPr>
          <p:cNvPr id="76" name="Picture 75" descr="benchmark_v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9869912"/>
            <a:ext cx="12984480" cy="4114800"/>
          </a:xfrm>
          <a:prstGeom prst="rect">
            <a:avLst/>
          </a:prstGeom>
        </p:spPr>
      </p:pic>
      <p:pic>
        <p:nvPicPr>
          <p:cNvPr id="77" name="Picture 76" descr="trust_v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24259032"/>
            <a:ext cx="12984480" cy="18288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275320" y="26316431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A1A2F"/>
                </a:solidFill>
                <a:latin typeface="Calibri"/>
              </a:rPr>
              <a:t>Quantization vs BF16 Baseline  (500 samples x 5 benchmarks, RTX 4090)</a:t>
            </a:r>
          </a:p>
        </p:txBody>
      </p: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8366760" y="26682192"/>
          <a:ext cx="10241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554480"/>
                <a:gridCol w="1371600"/>
                <a:gridCol w="155448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MedMCQA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MedQA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PubMedQA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MMLU Med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MedXpertQA</a:t>
                      </a:r>
                    </a:p>
                  </a:txBody>
                  <a:tcPr>
                    <a:solidFill>
                      <a:srgbClr val="E651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BF16 (base)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7.3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43.8%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29.0%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55.4%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43.0%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Q8_0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3.9 GB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44.4%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28.6%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55.4%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43.6%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Q6_K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3.0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40.8%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28.4%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57.4%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41.4%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Q4_K_M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2.4 GB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32.6%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29.0%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55.4%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29.8%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80" name="Rectangle 79"/>
          <p:cNvSpPr/>
          <p:nvPr/>
        </p:nvSpPr>
        <p:spPr>
          <a:xfrm>
            <a:off x="0" y="31272480"/>
            <a:ext cx="21945600" cy="164592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314553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Itikela Bhaskar  |  Vijay Aravynthan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319582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FFB300"/>
                </a:solidFill>
                <a:latin typeface="Calibri"/>
              </a:rPr>
              <a:t>Qualcomm India  ·  SparQ 2026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801600" y="3145536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2200" b="1">
                <a:solidFill>
                  <a:srgbClr val="FFB300"/>
                </a:solidFill>
                <a:latin typeface="Calibri"/>
              </a:rPr>
              <a:t>SparQ 2026 — Pervasive AI Theme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801600" y="3195828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500" b="0">
                <a:solidFill>
                  <a:srgbClr val="BBBBBB"/>
                </a:solidFill>
                <a:latin typeface="Calibri"/>
              </a:rPr>
              <a:t>On-device MedGemma  ·  Edge Companion  ·  FHIR Export  ·  GGUF Quantization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