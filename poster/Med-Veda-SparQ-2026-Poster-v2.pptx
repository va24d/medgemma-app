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0960" cy="49011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86016" y="0"/>
            <a:ext cx="14959584" cy="3840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320040"/>
            <a:ext cx="1371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400" b="1">
                <a:solidFill>
                  <a:srgbClr val="FFFFFF"/>
                </a:solidFill>
                <a:latin typeface="Calibri"/>
              </a:rPr>
              <a:t>Med Veda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45920"/>
            <a:ext cx="1371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0">
                <a:solidFill>
                  <a:srgbClr val="FFB300"/>
                </a:solidFill>
                <a:latin typeface="Calibri"/>
              </a:rPr>
              <a:t>Pervasive Clinical AI on Snapdragon + Governed Hybrid 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77440"/>
            <a:ext cx="1371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BBBBBB"/>
                </a:solidFill>
                <a:latin typeface="Calibri"/>
              </a:rPr>
              <a:t>On-device MedGemma 1.5 4B multimodal  |  Edge companion hub  |  Optional cloud APIs  |  Privacy-first AI as a continuum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246120"/>
            <a:ext cx="2011680" cy="347472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3282696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3246120"/>
            <a:ext cx="2011680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3282696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3246120"/>
            <a:ext cx="2011680" cy="347472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0" y="3282696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434840"/>
            <a:ext cx="21945600" cy="73152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7132320" cy="5623559"/>
          </a:xfrm>
          <a:prstGeom prst="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7132320" cy="457200"/>
          </a:xfrm>
          <a:prstGeom prst="rect">
            <a:avLst/>
          </a:prstGeom>
          <a:solidFill>
            <a:srgbClr val="005A9C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67665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03520"/>
            <a:ext cx="6675120" cy="5257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Mobile clinical workflows operate under intermittent connectivity, strict latency budgets at the point of care, and thermal constraints on sustained inference. Protected health information must remain amenable to privacy-preserving processing, yet multimodal decisions still require tight coupling between longitudinal records and high-resolution imaging.
Med Veda is a deployable Android clinician assistant centered on on-device Google MedGemma 1.5 4B multimodal inference. The system architecture partitions responsibility explicitly: privacy-sensitive longitudinal reasoning, chart-conditioned dialogue, and multilingual clinical generation execute locally on Snapdragon-class hardware behind a native GGUF runtime suitable for heterogeneous acceleration including NPU-assisted paths. This edge-first design preserves low-latency interaction in offline-first wards and keeps narrative PHI under local control.
Compute-intensive vision stages are selectively orchestrated to enterprise imaging services under institutional credentials, returning compact structured analytics rather than open-ended cloud language generation. FHIR-oriented export enables hospital on-premises or VPC GPU clusters for deeper screening and cohort analytics while the handset remains the bedside copilot.
The contribution is a production-oriented hybrid edge-cloud pattern for pervasive clinical AI: Snapdragon-edge multimodal reasoning as the default trust boundary, governed delegation for heavy vision, and standards-based extensibility for institutional compute.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1475719"/>
            <a:ext cx="7132320" cy="3794759"/>
          </a:xfrm>
          <a:prstGeom prst="rect">
            <a:avLst/>
          </a:prstGeom>
          <a:solidFill>
            <a:srgbClr val="F0F4F8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1064240"/>
            <a:ext cx="7132320" cy="457200"/>
          </a:xfrm>
          <a:prstGeom prst="rect">
            <a:avLst/>
          </a:prstGeom>
          <a:solidFill>
            <a:srgbClr val="C62828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1109960"/>
            <a:ext cx="67665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1658600"/>
            <a:ext cx="6675120" cy="3428999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Clinicians need longitudinal chart + imaging at the bedside, often with intermittent or no connectivity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Cloud-bound AI introduces unacceptable latency at point of care and mandates PHI egress to third-party servers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India's DPDP Act and global data protection laws impose strict constraints on clinical data movement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A single device cannot handle all workloads at full speed — large imaging studies hit thermal and compute limits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 Existing solutions force a false choice: "all on phone" (slow) or "all in cloud" (privacy-violating, offline-incompatible)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1999"/>
            <a:ext cx="7132320" cy="55321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5590519"/>
            <a:ext cx="7132320" cy="457200"/>
          </a:xfrm>
          <a:prstGeom prst="rect">
            <a:avLst/>
          </a:prstGeom>
          <a:solidFill>
            <a:srgbClr val="005A9C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5636239"/>
            <a:ext cx="67665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Methods &amp; Technical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6184879"/>
            <a:ext cx="6675120" cy="516636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005A9C"/>
                </a:solidFill>
                <a:latin typeface="Calibri"/>
              </a:rPr>
              <a:t>MedGemma 1.5 4B IT (Multimodal)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Deployed via GGUF (Q4_K_M default, 2.4 GB) through custom llama.cpp JNI wrapper (aichatlib) with lazy mmproj vision encoder loading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005A9C"/>
                </a:solidFill>
                <a:latin typeface="Calibri"/>
              </a:rPr>
              <a:t>Heterogeneous Acceleration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CPU (KleidiAI on arm64), Adreno GPU, and Hexagon NPU runtime paths; user-selectable energy mode with 2B/4B dynamic switching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005A9C"/>
                </a:solidFill>
                <a:latin typeface="Calibri"/>
              </a:rPr>
              <a:t>Chart-Grounded Inference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Room DB stores longitudinal patient records; system prompts inject full chart context with dated entries for temporally-aware reasoning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005A9C"/>
                </a:solidFill>
                <a:latin typeface="Calibri"/>
              </a:rPr>
              <a:t>Hybrid Vision Pipeline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Study pixels sent to near-edge GPU (prototype: RTX 4070); only structured JSON findings return to device for local text synthesis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 b="1">
                <a:solidFill>
                  <a:srgbClr val="005A9C"/>
                </a:solidFill>
                <a:latin typeface="Calibri"/>
              </a:rPr>
              <a:t>FHIR Interoperability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On-device LLM-assisted FHIR bundle export enables hospital VPC ingestion for batch analytics with larger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265639"/>
            <a:ext cx="7132320" cy="5257800"/>
          </a:xfrm>
          <a:prstGeom prst="rect">
            <a:avLst/>
          </a:prstGeom>
          <a:solidFill>
            <a:srgbClr val="F0F4F8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1854160"/>
            <a:ext cx="7132320" cy="457200"/>
          </a:xfrm>
          <a:prstGeom prst="rect">
            <a:avLst/>
          </a:prstGeom>
          <a:solidFill>
            <a:srgbClr val="0A1A2F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1899880"/>
            <a:ext cx="67665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Three-Tier Pervasive AI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2448519"/>
            <a:ext cx="6675120" cy="1417320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06440" y="22539960"/>
            <a:ext cx="1463040" cy="29260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255824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2539960"/>
            <a:ext cx="47548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Tier 1 — Device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2905719"/>
            <a:ext cx="6400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Android phone (Snapdragon): MedGemma 1.5 4B GGUF + mmproj; chart-grounded chat; Room DB; PIN auth; full offline operation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24002999"/>
            <a:ext cx="6675120" cy="1417320"/>
          </a:xfrm>
          <a:prstGeom prst="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06440" y="24094439"/>
            <a:ext cx="1463040" cy="29260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24112727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24094439"/>
            <a:ext cx="47548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Tier 2 — Near 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24460199"/>
            <a:ext cx="6400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Hospital / clinic LAN GPU (lab: RTX 4070): Heavy imaging → structured JSON findings; edge companion hub with web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25557479"/>
            <a:ext cx="6675120" cy="1417320"/>
          </a:xfrm>
          <a:prstGeom prst="rect">
            <a:avLst/>
          </a:prstGeom>
          <a:solidFill>
            <a:srgbClr val="F3E5F5"/>
          </a:solidFill>
          <a:ln w="25400">
            <a:solidFill>
              <a:srgbClr val="452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806440" y="25648919"/>
            <a:ext cx="1463040" cy="292608"/>
          </a:xfrm>
          <a:prstGeom prst="roundRect">
            <a:avLst/>
          </a:prstGeom>
          <a:solidFill>
            <a:srgbClr val="452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25667207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25648919"/>
            <a:ext cx="47548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4527A0"/>
                </a:solidFill>
                <a:latin typeface="Calibri"/>
              </a:rPr>
              <a:t>Tier 3 — Hospital VPC / 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6014679"/>
            <a:ext cx="6400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Overnight batch: 27B+ models, rare-disease screens, cohort analytics via FHIR ingest. On-device ScheduledPrognosisWorker is the shipped edge version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8254960"/>
            <a:ext cx="7132320" cy="2148839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7843480"/>
            <a:ext cx="7132320" cy="457200"/>
          </a:xfrm>
          <a:prstGeom prst="rect">
            <a:avLst/>
          </a:prstGeom>
          <a:solidFill>
            <a:srgbClr val="1B5E20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7889200"/>
            <a:ext cx="67665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Privacy &amp; Trust Boundary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8437839"/>
            <a:ext cx="6675120" cy="178307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Clinical narrative and chart Q&amp;A default on-device. Edge companion and cloud tiers are user-governed; chart text does not go to third-party LLMs unless the clinician explicitly selects Gemini API.
Public internet is used only for model weight delivery (Hugging Face CDN) and OAuth sign-in — never for clinical inference on patient data.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5120640"/>
            <a:ext cx="13441680" cy="5623559"/>
          </a:xfrm>
          <a:prstGeom prst="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4709160"/>
            <a:ext cx="13441680" cy="457200"/>
          </a:xfrm>
          <a:prstGeom prst="rect">
            <a:avLst/>
          </a:prstGeom>
          <a:solidFill>
            <a:srgbClr val="005A9C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754880"/>
            <a:ext cx="130759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pic>
        <p:nvPicPr>
          <p:cNvPr id="52" name="Picture 51" descr="architectur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5303520"/>
            <a:ext cx="12984480" cy="512064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8046720" y="11475719"/>
            <a:ext cx="13441680" cy="4343400"/>
          </a:xfrm>
          <a:prstGeom prst="rect">
            <a:avLst/>
          </a:prstGeom>
          <a:solidFill>
            <a:srgbClr val="F0F4F8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11064240"/>
            <a:ext cx="13441680" cy="457200"/>
          </a:xfrm>
          <a:prstGeom prst="rect">
            <a:avLst/>
          </a:prstGeom>
          <a:solidFill>
            <a:srgbClr val="0A1A2F"/>
          </a:solidFill>
          <a:ln w="25400">
            <a:solidFill>
              <a:srgbClr val="0A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11109960"/>
            <a:ext cx="130759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Application Interface</a:t>
            </a:r>
          </a:p>
        </p:txBody>
      </p:sp>
      <p:pic>
        <p:nvPicPr>
          <p:cNvPr id="56" name="Picture 55" descr="app_composit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658600"/>
            <a:ext cx="12984480" cy="397764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8046720" y="16550639"/>
            <a:ext cx="13441680" cy="6355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46720" y="16139159"/>
            <a:ext cx="13441680" cy="457200"/>
          </a:xfrm>
          <a:prstGeom prst="rect">
            <a:avLst/>
          </a:prstGeom>
          <a:solidFill>
            <a:srgbClr val="005A9C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16184880"/>
            <a:ext cx="130759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Highlights &amp; Innovations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16733519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On-Device Multimodal AI:</a:t>
            </a:r>
            <a:r>
              <a:rPr sz="1500" b="0">
                <a:solidFill>
                  <a:srgbClr val="000000"/>
                </a:solidFill>
                <a:latin typeface="Calibri"/>
              </a:rPr>
              <a:t> MedGemma 1.5 4B runs text + vision entirely on Snapdragon via custom llama.cpp JNI. Zero cloud inference for clinical data.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1751076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Quantization Discipline:</a:t>
            </a:r>
            <a:r>
              <a:rPr sz="1500" b="0">
                <a:solidFill>
                  <a:srgbClr val="000000"/>
                </a:solidFill>
                <a:latin typeface="Calibri"/>
              </a:rPr>
              <a:t> In-repo benchmarks across 5 medical datasets (500 samples each) prove Q8_0 is lossless and Q4_K_M preserves reasoning at 2.4 GB.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1828800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Hybrid Vision Pipeline:</a:t>
            </a:r>
            <a:r>
              <a:rPr sz="1500" b="0">
                <a:solidFill>
                  <a:srgbClr val="000000"/>
                </a:solidFill>
                <a:latin typeface="Calibri"/>
              </a:rPr>
              <a:t> Heavy imaging offloaded to near-edge GPU; only structured JSON returns. Chart text never leaves device in hybrid mode.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1906524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Edge Companion Hub:</a:t>
            </a:r>
            <a:r>
              <a:rPr sz="1500" b="0">
                <a:solidFill>
                  <a:srgbClr val="000000"/>
                </a:solidFill>
                <a:latin typeface="Calibri"/>
              </a:rPr>
              <a:t> FastAPI laptop server with patient sync, Ollama/Gemini chat routing, chart processing, and web dashboard.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1984248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Smart Vernacular Injection:</a:t>
            </a:r>
            <a:r>
              <a:rPr sz="1500" b="0">
                <a:solidFill>
                  <a:srgbClr val="000000"/>
                </a:solidFill>
                <a:latin typeface="Calibri"/>
              </a:rPr>
              <a:t> Zero-overhead regex interceptor translates medical jargon to Telugu/Hindi without degrading reasoning benchmarks.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2061972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Longitudinal Intelligence:</a:t>
            </a:r>
            <a:r>
              <a:rPr sz="1500" b="0">
                <a:solidFill>
                  <a:srgbClr val="000000"/>
                </a:solidFill>
                <a:latin typeface="Calibri"/>
              </a:rPr>
              <a:t> Room DB stores chronological profiles; AI bridges historical records with current symptoms via chart-grounded prompts.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2139696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FHIR Export:</a:t>
            </a:r>
            <a:r>
              <a:rPr sz="1500" b="0">
                <a:solidFill>
                  <a:srgbClr val="000000"/>
                </a:solidFill>
                <a:latin typeface="Calibri"/>
              </a:rPr>
              <a:t> On-device LLM-assisted FHIR bundle generation for hospital systems. Encrypted storage + PIN/biometric auth.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22174200"/>
            <a:ext cx="12801600" cy="713232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005A9C"/>
                </a:solidFill>
                <a:latin typeface="Calibri"/>
              </a:rPr>
              <a:t>▶  </a:t>
            </a:r>
            <a:r>
              <a:rPr sz="1700" b="1">
                <a:solidFill>
                  <a:srgbClr val="0A1A2F"/>
                </a:solidFill>
                <a:latin typeface="Calibri"/>
              </a:rPr>
              <a:t>Scheduled Prognosis:</a:t>
            </a:r>
            <a:r>
              <a:rPr sz="1500" b="0">
                <a:solidFill>
                  <a:srgbClr val="000000"/>
                </a:solidFill>
                <a:latin typeface="Calibri"/>
              </a:rPr>
              <a:t> WorkManager overnight batch generates prognoses for all patients when charging — shipped edge version of hospital batch tier.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23637239"/>
            <a:ext cx="13441680" cy="9189720"/>
          </a:xfrm>
          <a:prstGeom prst="rect">
            <a:avLst/>
          </a:prstGeom>
          <a:solidFill>
            <a:srgbClr val="FDF2E9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6720" y="23225760"/>
            <a:ext cx="13441680" cy="457200"/>
          </a:xfrm>
          <a:prstGeom prst="rect">
            <a:avLst/>
          </a:prstGeom>
          <a:solidFill>
            <a:srgbClr val="E6510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23271480"/>
            <a:ext cx="130759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Benchmarks &amp; Performance</a:t>
            </a:r>
          </a:p>
        </p:txBody>
      </p:sp>
      <p:pic>
        <p:nvPicPr>
          <p:cNvPr id="71" name="Picture 70" descr="kpi_cards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820119"/>
            <a:ext cx="12984480" cy="1463040"/>
          </a:xfrm>
          <a:prstGeom prst="rect">
            <a:avLst/>
          </a:prstGeom>
        </p:spPr>
      </p:pic>
      <p:pic>
        <p:nvPicPr>
          <p:cNvPr id="72" name="Picture 71" descr="benchmark_chart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5557479"/>
            <a:ext cx="12984480" cy="3840480"/>
          </a:xfrm>
          <a:prstGeom prst="rect">
            <a:avLst/>
          </a:prstGeom>
        </p:spPr>
      </p:pic>
      <p:pic>
        <p:nvPicPr>
          <p:cNvPr id="73" name="Picture 72" descr="trust_diagram_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29672279"/>
            <a:ext cx="12984480" cy="20116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275320" y="31866839"/>
            <a:ext cx="12984480" cy="109728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A1A2F"/>
                </a:solidFill>
                <a:latin typeface="Calibri"/>
              </a:rPr>
              <a:t>✓  Q8_0 is lossless: zero accuracy drop across all 5 benchmarks at ~47% size reduction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A1A2F"/>
                </a:solidFill>
                <a:latin typeface="Calibri"/>
              </a:rPr>
              <a:t>✓  Q6_K is near-lossless: within noise margin on all benchmarks at ~59% size reduction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A1A2F"/>
                </a:solidFill>
                <a:latin typeface="Calibri"/>
              </a:rPr>
              <a:t>✓  Q4_K_M trades knowledge recall for zero reasoning drop at 2.4 GB — ideal edge compromise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31272480"/>
            <a:ext cx="21945600" cy="1645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314553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Itikela Bhaskar  |  Vinay 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319125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B300"/>
                </a:solidFill>
                <a:latin typeface="Calibri"/>
              </a:rPr>
              <a:t>Qualcomm India  ·  SparQ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32278319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vinayg1752004@gmail.com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801600" y="314553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200" b="1">
                <a:solidFill>
                  <a:srgbClr val="FFB300"/>
                </a:solidFill>
                <a:latin typeface="Calibri"/>
              </a:rPr>
              <a:t>SparQ 2026 — Pervasive AI Theme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801600" y="319125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500" b="0">
                <a:solidFill>
                  <a:srgbClr val="AAAAAA"/>
                </a:solidFill>
                <a:latin typeface="Calibri"/>
              </a:rPr>
              <a:t>On-device MedGemma 1.5 4B  ·  Edge Companion  ·  FHIR Export  ·  Q4_K_M GGUF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