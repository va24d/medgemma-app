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0960" cy="4901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86016" y="0"/>
            <a:ext cx="14959584" cy="3529584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1417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400" b="1">
                <a:solidFill>
                  <a:srgbClr val="FFFFFF"/>
                </a:solidFill>
                <a:latin typeface="Calibri"/>
              </a:rPr>
              <a:t>Med Veda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1417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FFB300"/>
                </a:solidFill>
                <a:latin typeface="Calibri"/>
              </a:rPr>
              <a:t>Pervasive Clinical AI on Snapdragon + Governed Hybrid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1417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CCCCC"/>
                </a:solidFill>
                <a:latin typeface="Calibri"/>
              </a:rPr>
              <a:t>On-device MedGemma 1.5 4B multimodal · Edge companion hub · Optional cloud APIs — privacy-first AI as a continuum, not "everything in the cloud"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00400"/>
            <a:ext cx="201168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32186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200400"/>
            <a:ext cx="2011680" cy="320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2186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3200400"/>
            <a:ext cx="2011680" cy="320040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0" y="32186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21945600" cy="54864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6858000" cy="6217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5166360"/>
            <a:ext cx="6583680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6309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806440"/>
            <a:ext cx="6309360" cy="52120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</a:rPr>
              <a:t>Mobile clinical workflows operate under intermittent connectivity, strict latency budgets at the point of care, and thermal constraints on sustained inference. Protected health information must remain amenable to privacy-preserving processing, yet multimodal decisions still require tight coupling between longitudinal records and high-resolution imaging.
Med Veda is a deployable Android clinician assistant centered on on-device Google MedGemma 1.5 4B multimodal inference. The system architecture partitions responsibility explicitly: privacy-sensitive longitudinal reasoning, chart-conditioned dialogue, and multilingual clinical generation execute locally on Snapdragon-class hardware behind a native GGUF runtime suitable for heterogeneous acceleration, including NPU-assisted paths. This edge-first design preserves low-latency interaction in offline-first wards and keeps narrative PHI under local control.
Compute-intensive vision stages are selectively orchestrated to enterprise imaging services under institutional credentials, returning compact structured analytics rather than open-ended cloud language generation. FHIR-oriented export enables hospital on-premises or VPC GPU clusters for deeper screening, cohort analytics, or larger specialist models while the handset remains the bedside copilot.
The contribution is a production-oriented hybrid edge–cloud pattern for pervasive clinical AI: Snapdragon-edge multimodal reasoning as the default trust boundary, governed delegation for heavy vision, and standards-based extensibility for institutional compute.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029200"/>
            <a:ext cx="12984480" cy="6217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5166360"/>
            <a:ext cx="12710159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212080"/>
            <a:ext cx="12435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 &amp; App Interface</a:t>
            </a:r>
          </a:p>
        </p:txBody>
      </p:sp>
      <p:pic>
        <p:nvPicPr>
          <p:cNvPr id="22" name="Picture 21" descr="diagra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852160"/>
            <a:ext cx="7772400" cy="4572000"/>
          </a:xfrm>
          <a:prstGeom prst="rect">
            <a:avLst/>
          </a:prstGeom>
        </p:spPr>
      </p:pic>
      <p:pic>
        <p:nvPicPr>
          <p:cNvPr id="23" name="Picture 22" descr="home scre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0" y="5852160"/>
            <a:ext cx="1371600" cy="2926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42080" y="8869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05A9C"/>
                </a:solidFill>
                <a:latin typeface="Calibri"/>
              </a:rPr>
              <a:t>Home</a:t>
            </a:r>
          </a:p>
        </p:txBody>
      </p:sp>
      <p:pic>
        <p:nvPicPr>
          <p:cNvPr id="25" name="Picture 24" descr="image 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0839" y="5852160"/>
            <a:ext cx="1371600" cy="2926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150839" y="8869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05A9C"/>
                </a:solidFill>
                <a:latin typeface="Calibri"/>
              </a:rPr>
              <a:t>X-ray AI</a:t>
            </a:r>
          </a:p>
        </p:txBody>
      </p:sp>
      <p:pic>
        <p:nvPicPr>
          <p:cNvPr id="27" name="Picture 26" descr="patient 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599" y="5852160"/>
            <a:ext cx="1371600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659599" y="8869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05A9C"/>
                </a:solidFill>
                <a:latin typeface="Calibri"/>
              </a:rPr>
              <a:t>Patient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11887200"/>
            <a:ext cx="6858000" cy="4114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12024360"/>
            <a:ext cx="6583680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2070080"/>
            <a:ext cx="6309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12664440"/>
            <a:ext cx="630936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•  Clinicians need longitudinal chart + imaging at the bedside, often with intermittent or no connectivity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•  Cloud-bound AI introduces unacceptable latency at point of care and mandates PHI egress to third-party servers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•  India's DPDP Act and global data protection laws impose strict constraints on clinical data movement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•  A single device cannot handle all workloads at full speed: large imaging studies hit thermal and compute limits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•  Existing solutions force a false choice between "all on phone" (slow, limited) or "all in cloud" (privacy-violating, offline-incompatible)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16276320"/>
            <a:ext cx="6858000" cy="5029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16413480"/>
            <a:ext cx="6583680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16459200"/>
            <a:ext cx="6309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Methods &amp; Technical Approach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17053560"/>
            <a:ext cx="630936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700">
                <a:solidFill>
                  <a:srgbClr val="005A9C"/>
                </a:solidFill>
                <a:latin typeface="Calibri"/>
              </a:rPr>
              <a:t>MedGemma 1.5 4B IT (Multimodal):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  Deployed via GGUF (Q4_K_M default, 2.4 GB) through custom llama.cpp JNI wrapper (aichatlib) with lazy mmproj vision encoder loading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700">
                <a:solidFill>
                  <a:srgbClr val="005A9C"/>
                </a:solidFill>
                <a:latin typeface="Calibri"/>
              </a:rPr>
              <a:t>Heterogeneous Acceleration: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  CPU (KleidiAI on arm64), Adreno GPU, and Hexagon NPU runtime paths; user-selectable energy mode with 2B/4B dynamic switching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700">
                <a:solidFill>
                  <a:srgbClr val="005A9C"/>
                </a:solidFill>
                <a:latin typeface="Calibri"/>
              </a:rPr>
              <a:t>Chart-Grounded Inference: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  Room DB stores longitudinal patient records; system prompts inject full chart context with dated entries for temporally-aware reasoning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700">
                <a:solidFill>
                  <a:srgbClr val="005A9C"/>
                </a:solidFill>
                <a:latin typeface="Calibri"/>
              </a:rPr>
              <a:t>Hybrid Vision Pipeline: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  Study pixels sent to near-edge GPU (prototype: RTX 4070); only structured JSON findings return to device for local text synthesis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700">
                <a:solidFill>
                  <a:srgbClr val="005A9C"/>
                </a:solidFill>
                <a:latin typeface="Calibri"/>
              </a:rPr>
              <a:t>FHIR Interoperability: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00000"/>
                </a:solidFill>
                <a:latin typeface="Calibri"/>
              </a:rPr>
              <a:t>  On-device LLM-assisted FHIR bundle export enables hospital VPC ingestion for batch analytics with larger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1579840"/>
            <a:ext cx="6858000" cy="62179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21717000"/>
            <a:ext cx="6583680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1762720"/>
            <a:ext cx="6309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Three-Tier Pervasive AI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59" y="22402800"/>
            <a:ext cx="6309360" cy="1463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22494240"/>
            <a:ext cx="594360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600">
                <a:solidFill>
                  <a:srgbClr val="1B5E20"/>
                </a:solidFill>
                <a:latin typeface="Calibri"/>
              </a:rPr>
              <a:t>Tier 1 — Device Edge  [SHIPPED]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Calibri"/>
              </a:rPr>
              <a:t>Android phone (Snapdragon): MedGemma 1.5 4B GGUF + mmproj; chart-grounded chat; Room DB; PIN auth; full offline operation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59" y="24048720"/>
            <a:ext cx="6309360" cy="14630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24140160"/>
            <a:ext cx="594360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600">
                <a:solidFill>
                  <a:srgbClr val="1565C0"/>
                </a:solidFill>
                <a:latin typeface="Calibri"/>
              </a:rPr>
              <a:t>Tier 2 — Near Edge  [PROTOTYPE]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Calibri"/>
              </a:rPr>
              <a:t>Hospital/clinic LAN GPU (lab: RTX 4070): Heavy imaging → structured JSON findings (not full chart to cloud LLM); edge companion hub with web dashboard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59" y="25694640"/>
            <a:ext cx="6309360" cy="14630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25786080"/>
            <a:ext cx="594360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1" sz="1600">
                <a:solidFill>
                  <a:srgbClr val="4527A0"/>
                </a:solidFill>
                <a:latin typeface="Calibri"/>
              </a:rPr>
              <a:t>Tier 3 — Hospital VPC / Batch  [ROADMAP]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Calibri"/>
              </a:rPr>
              <a:t>Overnight batch: 27B+ models, rare-disease screens, cohort analytics via FHIR ingest. On-device ScheduledPrognosisWorker is the shipped edge version of this 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28072080"/>
            <a:ext cx="685800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5800" y="28209240"/>
            <a:ext cx="6583680" cy="5029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28254960"/>
            <a:ext cx="6309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Privacy &amp; Trust Boundary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" y="28849320"/>
            <a:ext cx="6309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B5E20"/>
                </a:solidFill>
                <a:latin typeface="Calibri"/>
              </a:rPr>
              <a:t>Clinical narrative and chart Q&amp;A default on-device. Edge companion and cloud tiers are user-governed; chart text does not go to third-party LLMs unless the clinician explicitly selects Gemini API.
Public internet is used only for model weight delivery (Hugging Face CDN) and OAuth sign-in — never for clinical inference on patient data.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11887200"/>
            <a:ext cx="12984480" cy="8686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66760" y="12024360"/>
            <a:ext cx="12710159" cy="502920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12070080"/>
            <a:ext cx="12435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Highlights &amp; Innovations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1266444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On-Device Multimodal AI:</a:t>
            </a:r>
            <a:r>
              <a:rPr sz="1700">
                <a:solidFill>
                  <a:srgbClr val="000000"/>
                </a:solidFill>
                <a:latin typeface="Calibri"/>
              </a:rPr>
              <a:t> MedGemma 1.5 4B runs text + vision entirely on Snapdragon via custom llama.cpp JNI (aichatlib). Zero cloud inference for clinical data.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1362456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Quantization Discipline:</a:t>
            </a:r>
            <a:r>
              <a:rPr sz="1700">
                <a:solidFill>
                  <a:srgbClr val="000000"/>
                </a:solidFill>
                <a:latin typeface="Calibri"/>
              </a:rPr>
              <a:t> In-repo benchmarks across 5 medical datasets (500 samples each) prove Q8_0 is lossless (47% size reduction) and Q4_K_M preserves reasoning accuracy (zero drop on MedQA/PubMedQA) at 2.4 GB.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1458468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Hybrid Vision Pipeline:</a:t>
            </a:r>
            <a:r>
              <a:rPr sz="1700">
                <a:solidFill>
                  <a:srgbClr val="000000"/>
                </a:solidFill>
                <a:latin typeface="Calibri"/>
              </a:rPr>
              <a:t> Heavy imaging (X-ray, histopathology) offloaded to near-edge GPU; only structured JSON returns to phone. Chart text never leaves device in hybrid mode.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1554480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Edge Companion Hub:</a:t>
            </a:r>
            <a:r>
              <a:rPr sz="1700">
                <a:solidFill>
                  <a:srgbClr val="000000"/>
                </a:solidFill>
                <a:latin typeface="Calibri"/>
              </a:rPr>
              <a:t> FastAPI-based laptop server (port 8787) with patient sync, Ollama/Gemini chat routing, chart processing, and web dashboard for clinical oversight.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1650492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Smart Vernacular Injection:</a:t>
            </a:r>
            <a:r>
              <a:rPr sz="1700">
                <a:solidFill>
                  <a:srgbClr val="000000"/>
                </a:solidFill>
                <a:latin typeface="Calibri"/>
              </a:rPr>
              <a:t> Zero-overhead regex interceptor translates complex medical jargon to Telugu/Hindi in the output stream without degrading MedGemma's core reasoning benchmarks.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1746504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Longitudinal Intelligence:</a:t>
            </a:r>
            <a:r>
              <a:rPr sz="1700">
                <a:solidFill>
                  <a:srgbClr val="000000"/>
                </a:solidFill>
                <a:latin typeface="Calibri"/>
              </a:rPr>
              <a:t> Room DB stores chronological patient profiles; AI bridges years of historical records with current symptoms via chart-grounded prompts with dated entries.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1842516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FHIR Export &amp; Interoperability:</a:t>
            </a:r>
            <a:r>
              <a:rPr sz="1700">
                <a:solidFill>
                  <a:srgbClr val="000000"/>
                </a:solidFill>
                <a:latin typeface="Calibri"/>
              </a:rPr>
              <a:t> On-device LLM-assisted FHIR bundle generation enables data flow to hospital systems without cloud intermediary. Encrypted local storage + PIN/biometric auth.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19385280"/>
            <a:ext cx="1243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005A9C"/>
                </a:solidFill>
                <a:latin typeface="Calibri"/>
              </a:rPr>
              <a:t>▶  </a:t>
            </a:r>
            <a:r>
              <a:rPr sz="1900" b="1">
                <a:solidFill>
                  <a:srgbClr val="0A1A2F"/>
                </a:solidFill>
                <a:latin typeface="Calibri"/>
              </a:rPr>
              <a:t>Scheduled Prognosis Worker:</a:t>
            </a:r>
            <a:r>
              <a:rPr sz="1700">
                <a:solidFill>
                  <a:srgbClr val="000000"/>
                </a:solidFill>
                <a:latin typeface="Calibri"/>
              </a:rPr>
              <a:t> WorkManager-based overnight batch generates AI prognoses for all patients when device is charging — shipped edge version of the hospital batch tier.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21031200"/>
            <a:ext cx="12984480" cy="86868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66760" y="21168360"/>
            <a:ext cx="12710159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21214080"/>
            <a:ext cx="12435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Benchmarks &amp; Performance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03920" y="2185416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0" y="21991319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65100"/>
                </a:solidFill>
                <a:latin typeface="Calibri"/>
              </a:rPr>
              <a:t>~18–22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22539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tok/s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22814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A1A2F"/>
                </a:solidFill>
                <a:latin typeface="Calibri"/>
              </a:rPr>
              <a:t>Text Inference Speed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972800" y="2185416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64240" y="21991319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65100"/>
                </a:solidFill>
                <a:latin typeface="Calibri"/>
              </a:rPr>
              <a:t>4.1 GB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22539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peak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22814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A1A2F"/>
                </a:solidFill>
                <a:latin typeface="Calibri"/>
              </a:rPr>
              <a:t>RAM Consumption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441680" y="2185416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533119" y="21991319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65100"/>
                </a:solidFill>
                <a:latin typeface="Calibri"/>
              </a:rPr>
              <a:t>2.4 GB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533119" y="22539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disk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533119" y="22814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A1A2F"/>
                </a:solidFill>
                <a:latin typeface="Calibri"/>
              </a:rPr>
              <a:t>Model Size (Q4_K_M)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5910559" y="2185416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002000" y="21991319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65100"/>
                </a:solidFill>
                <a:latin typeface="Calibri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002000" y="22539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datasets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0" y="22814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A1A2F"/>
                </a:solidFill>
                <a:latin typeface="Calibri"/>
              </a:rPr>
              <a:t>Medical Benchmarks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379439" y="2185416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470880" y="21991319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65100"/>
                </a:solidFill>
                <a:latin typeface="Calibri"/>
              </a:rPr>
              <a:t>500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470880" y="22539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99999"/>
                </a:solidFill>
                <a:latin typeface="Calibri"/>
              </a:rPr>
              <a:t>samples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470880" y="22814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A1A2F"/>
                </a:solidFill>
                <a:latin typeface="Calibri"/>
              </a:rPr>
              <a:t>Per Benchmark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3920" y="2345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A1A2F"/>
                </a:solidFill>
                <a:latin typeface="Calibri"/>
              </a:rPr>
              <a:t>Quantization vs. BF16 Baseline  (500 samples × 5 benchmarks, RTX 4090 GPU)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8686800" y="23865840"/>
          <a:ext cx="10424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4630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MedMCQA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MedQA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PubMedQA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MMLU Med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MedXpertQA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BF16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7.3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29.00%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55.40%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43.00%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8.80%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Q8_0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3.9 GB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44.40%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28.60%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55.40%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43.60%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8.80%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Q6_K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3.0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40.80%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57.40%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41.40%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Q4_K_M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2.4 GB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32.60%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29.00%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55.40%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29.80%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  <a:latin typeface="Calibri"/>
                        </a:rPr>
                        <a:t>10.00%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8503920" y="26654760"/>
            <a:ext cx="1243584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A1A2F"/>
                </a:solidFill>
                <a:latin typeface="Calibri"/>
              </a:rPr>
              <a:t>✓  Q8_0 is lossless: zero meaningful accuracy drop across all 5 benchmarks at ~47% size reduction (7.3 GB → 3.9 GB)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A1A2F"/>
                </a:solidFill>
                <a:latin typeface="Calibri"/>
              </a:rPr>
              <a:t>✓  Q6_K is near-lossless: within noise margin on all benchmarks at ~59% size reduction (7.3 GB → 3.0 GB)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A1A2F"/>
                </a:solidFill>
                <a:latin typeface="Calibri"/>
              </a:rPr>
              <a:t>✓  Q4_K_M trades knowledge recall (−11.2pp MedMCQA) for zero reasoning drop (MedQA, PubMedQA) at 2.4 GB — ideal edge compromise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b="0" sz="1700">
                <a:solidFill>
                  <a:srgbClr val="0A1A2F"/>
                </a:solidFill>
                <a:latin typeface="Calibri"/>
              </a:rPr>
              <a:t>✓  TFLite Q8 alternative: 39.55% MedMCQA natively on CPU, matching GGUF Q8_0 quality for CPU-only deployment paths</a:t>
            </a:r>
          </a:p>
        </p:txBody>
      </p:sp>
      <p:pic>
        <p:nvPicPr>
          <p:cNvPr id="87" name="Picture 86" descr="diagram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29397960"/>
            <a:ext cx="11887200" cy="274320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0" y="31272480"/>
            <a:ext cx="21945600" cy="1645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314553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Itikela Bhaskar  |  Vinay 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32004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FFB300"/>
                </a:solidFill>
                <a:latin typeface="Calibri"/>
              </a:rPr>
              <a:t>Qualcomm India  ·  SparQ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32415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AA"/>
                </a:solidFill>
                <a:latin typeface="Calibri"/>
              </a:rPr>
              <a:t>vinayg1752004@gmail.com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01600" y="315468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800" b="0">
                <a:solidFill>
                  <a:srgbClr val="AAAAAA"/>
                </a:solidFill>
                <a:latin typeface="Calibri"/>
              </a:rPr>
              <a:t>github.com/anthropics/Medgemma-app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01600" y="320040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200" b="1">
                <a:solidFill>
                  <a:srgbClr val="FFB300"/>
                </a:solidFill>
                <a:latin typeface="Calibri"/>
              </a:rPr>
              <a:t>SparQ 2026  —  Pervasive AI Theme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801600" y="324154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>
                <a:solidFill>
                  <a:srgbClr val="AAAAAA"/>
                </a:solidFill>
                <a:latin typeface="Calibri"/>
              </a:rPr>
              <a:t>On-device MedGemma 1.5 4B  ·  Edge Companion  ·  FHIR Export  ·  Q4_K_M GGUF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